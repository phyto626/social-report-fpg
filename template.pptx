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066CC">
              <a:alpha val="30000"/>
            </a:srgbClr>
          </a:solidFill>
          <a:ln w="12700">
            <a:solidFill>
              <a:srgbClr val="0066C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00A0BB">
              <a:alpha val="25000"/>
            </a:srgbClr>
          </a:solidFill>
          <a:ln w="12700">
            <a:solidFill>
              <a:srgbClr val="00A0B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256032"/>
            <a:ext cx="804672" cy="8046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3291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台塑便利家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048" y="12344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社群數據回顧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84048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20XX 年 XX 月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84048" y="2816352"/>
            <a:ext cx="4114800" cy="0"/>
          </a:xfrm>
          <a:prstGeom prst="line">
            <a:avLst/>
          </a:prstGeom>
          <a:noFill/>
          <a:ln w="6350">
            <a:solidFill>
              <a:srgbClr val="AACF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2944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【製作人 / 部門】　　｜　　製作日期：20XX/XX/XX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2E5E"/>
          </a:solidFill>
          <a:ln w="12700">
            <a:solidFill>
              <a:srgbClr val="002E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ECOCO 循環經濟　×　台塑便利家　×　永續生活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560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整體數據概覽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 KPIs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8595360" cy="0"/>
          </a:xfrm>
          <a:prstGeom prst="line">
            <a:avLst/>
          </a:prstGeom>
          <a:noFill/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台塑便利家 · 社群數據回顧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325880"/>
            <a:ext cx="19659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1325880"/>
            <a:ext cx="1965960" cy="41148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141732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貼文發布篇數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38912" y="160020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38912" y="2221992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篇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50592" y="1325880"/>
            <a:ext cx="19659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2450592" y="1325880"/>
            <a:ext cx="1965960" cy="41148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615184" y="141732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粉專追蹤人數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615184" y="160020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XX,XXX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2615184" y="2221992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位追蹤者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26864" y="1325880"/>
            <a:ext cx="19659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626864" y="1325880"/>
            <a:ext cx="1965960" cy="41148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791456" y="141732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觸及 {topPostReach}</a:t>
            </a:r>
          </a:p>
        </p:txBody>
      </p:sp>
      <p:sp>
        <p:nvSpPr>
          <p:cNvPr id="22" name="Text 19"/>
          <p:cNvSpPr/>
          <p:nvPr/>
        </p:nvSpPr>
        <p:spPr>
          <a:xfrm>
            <a:off x="4791456" y="160020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XX,XXX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4791456" y="2221992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人次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803136" y="1325880"/>
            <a:ext cx="19659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803136" y="1325880"/>
            <a:ext cx="1965960" cy="41148"/>
          </a:xfrm>
          <a:prstGeom prst="rect">
            <a:avLst/>
          </a:prstGeom>
          <a:solidFill>
            <a:srgbClr val="5CBEB2"/>
          </a:solidFill>
          <a:ln w="12700">
            <a:solidFill>
              <a:srgbClr val="5CBEB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967728" y="141732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互動 {topPostEng}</a:t>
            </a:r>
          </a:p>
        </p:txBody>
      </p:sp>
      <p:sp>
        <p:nvSpPr>
          <p:cNvPr id="27" name="Text 24"/>
          <p:cNvSpPr/>
          <p:nvPr/>
        </p:nvSpPr>
        <p:spPr>
          <a:xfrm>
            <a:off x="6967728" y="160020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CB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6967728" y="2221992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 / 篇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2788920"/>
            <a:ext cx="8595360" cy="1664208"/>
          </a:xfrm>
          <a:prstGeom prst="rect">
            <a:avLst/>
          </a:prstGeom>
          <a:solidFill>
            <a:srgbClr val="EBF4FF"/>
          </a:solidFill>
          <a:ln w="9525">
            <a:solidFill>
              <a:srgbClr val="C3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274320" y="2788920"/>
            <a:ext cx="54864" cy="1664208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75488" y="28346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互動率 {topPostRate}</a:t>
            </a:r>
          </a:p>
        </p:txBody>
      </p:sp>
      <p:sp>
        <p:nvSpPr>
          <p:cNvPr id="32" name="Text 29"/>
          <p:cNvSpPr/>
          <p:nvPr/>
        </p:nvSpPr>
        <p:spPr>
          <a:xfrm>
            <a:off x="475488" y="3063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{topPostMsg}</a:t>
            </a:r>
          </a:p>
        </p:txBody>
      </p:sp>
      <p:sp>
        <p:nvSpPr>
          <p:cNvPr id="33" name="Text 30"/>
          <p:cNvSpPr/>
          <p:nvPr/>
        </p:nvSpPr>
        <p:spPr>
          <a:xfrm>
            <a:off x="475488" y="336499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{topPostMsg}</a:t>
            </a:r>
          </a:p>
        </p:txBody>
      </p:sp>
      <p:sp>
        <p:nvSpPr>
          <p:cNvPr id="34" name="Shape 31"/>
          <p:cNvSpPr/>
          <p:nvPr/>
        </p:nvSpPr>
        <p:spPr>
          <a:xfrm>
            <a:off x="475488" y="391363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057B7">
              <a:alpha val="12000"/>
            </a:srgbClr>
          </a:solidFill>
          <a:ln w="6350">
            <a:solidFill>
              <a:srgbClr val="0057B7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475488" y="3913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觸及 {topPostReach}</a:t>
            </a:r>
          </a:p>
        </p:txBody>
      </p:sp>
      <p:sp>
        <p:nvSpPr>
          <p:cNvPr id="36" name="Shape 33"/>
          <p:cNvSpPr/>
          <p:nvPr/>
        </p:nvSpPr>
        <p:spPr>
          <a:xfrm>
            <a:off x="2395728" y="391363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0A0BB">
              <a:alpha val="12000"/>
            </a:srgbClr>
          </a:solidFill>
          <a:ln w="6350">
            <a:solidFill>
              <a:srgbClr val="00A0B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2395728" y="3913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互動 {topPostEng}</a:t>
            </a:r>
          </a:p>
        </p:txBody>
      </p:sp>
      <p:sp>
        <p:nvSpPr>
          <p:cNvPr id="38" name="Shape 35"/>
          <p:cNvSpPr/>
          <p:nvPr/>
        </p:nvSpPr>
        <p:spPr>
          <a:xfrm>
            <a:off x="4315968" y="391363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FFA000">
              <a:alpha val="12000"/>
            </a:srgbClr>
          </a:solidFill>
          <a:ln w="6350">
            <a:solidFill>
              <a:srgbClr val="FFA00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4315968" y="3913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互動率 {topPostRate}</a:t>
            </a:r>
          </a:p>
        </p:txBody>
      </p:sp>
      <p:sp>
        <p:nvSpPr>
          <p:cNvPr id="40" name="Shape 37"/>
          <p:cNvSpPr/>
          <p:nvPr/>
        </p:nvSpPr>
        <p:spPr>
          <a:xfrm>
            <a:off x="6236208" y="391363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5CBEB2">
              <a:alpha val="12000"/>
            </a:srgbClr>
          </a:solidFill>
          <a:ln w="6350">
            <a:solidFill>
              <a:srgbClr val="5CBEB2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6236208" y="3913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素材：{topPostFormat}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560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各主題互動率排名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by Content Category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8595360" cy="0"/>
          </a:xfrm>
          <a:prstGeom prst="line">
            <a:avLst/>
          </a:prstGeom>
          <a:noFill/>
          <a:ln w="12700">
            <a:solidFill>
              <a:srgbClr val="EFEF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FEF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台塑便利家 · 社群數據回顧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347472" cy="274320"/>
          </a:xfrm>
          <a:prstGeom prst="rect">
            <a:avLst/>
          </a:prstGeom>
          <a:solidFill>
            <a:srgbClr val="EFEF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" y="126187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1792" y="1261872"/>
            <a:ext cx="2560320" cy="274320"/>
          </a:xfrm>
          <a:prstGeom prst="rect">
            <a:avLst/>
          </a:prstGeom>
          <a:solidFill>
            <a:srgbClr val="EFEF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" y="126187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貼文主題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82112" y="1261872"/>
            <a:ext cx="1005840" cy="274320"/>
          </a:xfrm>
          <a:prstGeom prst="rect">
            <a:avLst/>
          </a:prstGeom>
          <a:solidFill>
            <a:srgbClr val="EFEF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36976" y="126187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平均觸及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87952" y="1261872"/>
            <a:ext cx="4498848" cy="274320"/>
          </a:xfrm>
          <a:prstGeom prst="rect">
            <a:avLst/>
          </a:prstGeom>
          <a:solidFill>
            <a:srgbClr val="EFEF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42816" y="1261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互動率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1536192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153619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" y="15361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182112" y="15361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315968" y="1709928"/>
            <a:ext cx="3474720" cy="118872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15968" y="1709928"/>
            <a:ext cx="3474720" cy="118872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55280" y="15361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X.XX%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74320" y="2011680"/>
            <a:ext cx="85953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201168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1792" y="20116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182112" y="20116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15968" y="2185416"/>
            <a:ext cx="3474720" cy="118872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15968" y="2185416"/>
            <a:ext cx="2710282" cy="118872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0116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X.XX%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74320" y="2487168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24871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21792" y="24871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3182112" y="248716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315968" y="2660904"/>
            <a:ext cx="3474720" cy="118872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68" y="2660904"/>
            <a:ext cx="2293315" cy="118872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55280" y="24871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X.XX%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274320" y="2962656"/>
            <a:ext cx="85953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" y="296265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21792" y="296265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3182112" y="296265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XX,XXX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315968" y="3136392"/>
            <a:ext cx="3474720" cy="118872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315968" y="3136392"/>
            <a:ext cx="1806854" cy="118872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955280" y="29626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X.XX%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274320" y="3438144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74320" y="343814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21792" y="34381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3182112" y="343814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315968" y="3611880"/>
            <a:ext cx="3474720" cy="118872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315968" y="3611880"/>
            <a:ext cx="1702613" cy="118872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955280" y="343814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X.XX%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274320" y="3913632"/>
            <a:ext cx="85953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74320" y="391363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21792" y="39136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3182112" y="391363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315968" y="4087368"/>
            <a:ext cx="3474720" cy="118872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315968" y="4087368"/>
            <a:ext cx="1494130" cy="118872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955280" y="39136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X.XX%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560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素材型式分析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Format Performance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8595360" cy="0"/>
          </a:xfrm>
          <a:prstGeom prst="line">
            <a:avLst/>
          </a:prstGeom>
          <a:noFill/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台塑便利家 · 社群數據回顧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298448"/>
            <a:ext cx="41148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素材型式 × 互動率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1783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照片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093976"/>
            <a:ext cx="3566160" cy="118872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57200" y="2093976"/>
            <a:ext cx="1854403" cy="118872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7200" y="22768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 觸及 · X.X% 互動率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2587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圖片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2898648"/>
            <a:ext cx="3566160" cy="118872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57200" y="2898648"/>
            <a:ext cx="3566160" cy="118872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57200" y="30815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 觸及 · X.X% 互動率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33924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短影音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703320"/>
            <a:ext cx="3566160" cy="118872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3703320"/>
            <a:ext cx="2817266" cy="118872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38862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 觸及 · X.X% 互動率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1298448"/>
            <a:ext cx="4206240" cy="3291840"/>
          </a:xfrm>
          <a:prstGeom prst="rect">
            <a:avLst/>
          </a:prstGeom>
          <a:solidFill>
            <a:srgbClr val="EBF4FF"/>
          </a:solidFill>
          <a:ln w="9525">
            <a:solidFill>
              <a:srgbClr val="C3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846320" y="1408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素材洞察</a:t>
            </a:r>
          </a:p>
          <a:p>
            <a:r>
              <a:t>{#formats} {type}: {reach} 觸及, {rate} 互動率 {/formats}</a:t>
            </a:r>
          </a:p>
        </p:txBody>
      </p:sp>
      <p:sp>
        <p:nvSpPr>
          <p:cNvPr id="25" name="Shape 22"/>
          <p:cNvSpPr/>
          <p:nvPr/>
        </p:nvSpPr>
        <p:spPr>
          <a:xfrm>
            <a:off x="4846320" y="1719072"/>
            <a:ext cx="3657600" cy="0"/>
          </a:xfrm>
          <a:prstGeom prst="line">
            <a:avLst/>
          </a:prstGeom>
          <a:noFill/>
          <a:ln w="6350">
            <a:solidFill>
              <a:srgbClr val="C3D9F0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4846320" y="1828800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「圖片」互動率最高，精心設計的靜態圖卡能有效引發粉絲主動互動。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46320" y="2651760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「照片」觸及最廣，適合用於擴大品牌聲量與新受眾接觸。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46320" y="3474720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「短影音」整體數值保守，建議加強前三秒 Hook 設計與明確 CTA 引導。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560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全貼文表現明細（依觸及排序）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Posts · Sorted by Reach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8595360" cy="0"/>
          </a:xfrm>
          <a:prstGeom prst="line">
            <a:avLst/>
          </a:prstGeom>
          <a:noFill/>
          <a:ln w="12700">
            <a:solidFill>
              <a:srgbClr val="EFEF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FEF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台塑便利家 · 社群數據回顧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347472" cy="256032"/>
          </a:xfrm>
          <a:prstGeom prst="rect">
            <a:avLst/>
          </a:prstGeom>
          <a:solidFill>
            <a:srgbClr val="EFEF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1792" y="1261872"/>
            <a:ext cx="2560320" cy="256032"/>
          </a:xfrm>
          <a:prstGeom prst="rect">
            <a:avLst/>
          </a:prstGeom>
          <a:solidFill>
            <a:srgbClr val="EFEF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261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貼文主題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82112" y="1261872"/>
            <a:ext cx="685800" cy="256032"/>
          </a:xfrm>
          <a:prstGeom prst="rect">
            <a:avLst/>
          </a:prstGeom>
          <a:solidFill>
            <a:srgbClr val="EFEF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27832" y="12618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867912" y="1261872"/>
            <a:ext cx="914400" cy="256032"/>
          </a:xfrm>
          <a:prstGeom prst="rect">
            <a:avLst/>
          </a:prstGeom>
          <a:solidFill>
            <a:srgbClr val="EFEF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13632" y="1261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觸及人數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82312" y="1261872"/>
            <a:ext cx="914400" cy="256032"/>
          </a:xfrm>
          <a:prstGeom prst="rect">
            <a:avLst/>
          </a:prstGeom>
          <a:solidFill>
            <a:srgbClr val="EFEF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8032" y="1261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互動次數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696712" y="1261872"/>
            <a:ext cx="3172968" cy="256032"/>
          </a:xfrm>
          <a:prstGeom prst="rect">
            <a:avLst/>
          </a:prstGeom>
          <a:solidFill>
            <a:srgbClr val="EFEF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42432" y="126187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互動率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1517904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151790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7512" y="1517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182112" y="151790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867912" y="15179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782312" y="15179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742432" y="1668780"/>
            <a:ext cx="2286000" cy="82296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1668780"/>
            <a:ext cx="2286000" cy="82296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01584" y="15179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0.80%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4320" y="1901952"/>
            <a:ext cx="859536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190195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67512" y="19019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182112" y="190195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867912" y="19019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782312" y="19019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742432" y="2052828"/>
            <a:ext cx="2286000" cy="82296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742432" y="2052828"/>
            <a:ext cx="1988820" cy="82296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01584" y="19019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0.70%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274320" y="2286000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74320" y="22860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67512" y="2286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3182112" y="22860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867912" y="2286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782312" y="2286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742432" y="2436876"/>
            <a:ext cx="2286000" cy="82296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742432" y="2436876"/>
            <a:ext cx="1691640" cy="82296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101584" y="22860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0.60%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274320" y="2670048"/>
            <a:ext cx="859536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74320" y="267004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67512" y="2670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3182112" y="267004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3867912" y="26700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4782312" y="26700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5742432" y="2820924"/>
            <a:ext cx="2286000" cy="82296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742432" y="2820924"/>
            <a:ext cx="1394460" cy="82296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101584" y="26700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0.50%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274320" y="3054096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74320" y="305409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667512" y="30540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3182112" y="305409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3867912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4782312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5742432" y="3204972"/>
            <a:ext cx="2286000" cy="82296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742432" y="3204972"/>
            <a:ext cx="1097280" cy="82296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101584" y="30540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0.40%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274320" y="3438144"/>
            <a:ext cx="8595360" cy="384048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74320" y="343814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667512" y="34381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3182112" y="343814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867912" y="34381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4782312" y="34381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5742432" y="3589020"/>
            <a:ext cx="2286000" cy="82296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742432" y="3589020"/>
            <a:ext cx="800100" cy="82296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101584" y="34381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0.30%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274320" y="3822192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74320" y="382219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667512" y="3822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（主題名稱）</a:t>
            </a:r>
            <a:endParaRPr lang="en-US" sz="950" dirty="0"/>
          </a:p>
        </p:txBody>
      </p:sp>
      <p:sp>
        <p:nvSpPr>
          <p:cNvPr id="78" name="Text 75"/>
          <p:cNvSpPr/>
          <p:nvPr/>
        </p:nvSpPr>
        <p:spPr>
          <a:xfrm>
            <a:off x="3182112" y="382219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3867912" y="38221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X,XXX</a:t>
            </a:r>
            <a:endParaRPr lang="en-US" sz="950" dirty="0"/>
          </a:p>
        </p:txBody>
      </p:sp>
      <p:sp>
        <p:nvSpPr>
          <p:cNvPr id="80" name="Text 77"/>
          <p:cNvSpPr/>
          <p:nvPr/>
        </p:nvSpPr>
        <p:spPr>
          <a:xfrm>
            <a:off x="4782312" y="38221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5742432" y="3973068"/>
            <a:ext cx="2286000" cy="82296"/>
          </a:xfrm>
          <a:prstGeom prst="rect">
            <a:avLst/>
          </a:prstGeom>
          <a:solidFill>
            <a:srgbClr val="EFEFED"/>
          </a:solidFill>
          <a:ln w="12700">
            <a:solidFill>
              <a:srgbClr val="EFEFED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5742432" y="3973068"/>
            <a:ext cx="502920" cy="82296"/>
          </a:xfrm>
          <a:prstGeom prst="rect">
            <a:avLst/>
          </a:prstGeom>
          <a:solidFill>
            <a:srgbClr val="00A0BB"/>
          </a:solidFill>
          <a:ln w="12700">
            <a:solidFill>
              <a:srgbClr val="00A0B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101584" y="38221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0.20%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64592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2336" y="1792224"/>
            <a:ext cx="3904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內容結構</a:t>
            </a:r>
            <a:br/>
            <a:r>
              <a:t>{insights.structure}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45736" y="2249424"/>
            <a:ext cx="390448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敘事角度</a:t>
            </a:r>
            <a:br/>
            <a:r>
              <a:t>{insights.narrative}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3712464"/>
            <a:ext cx="3904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文案語氣</a:t>
            </a:r>
            <a:br/>
            <a:r>
              <a:t>{insights.tone}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5736" y="3712464"/>
            <a:ext cx="3904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CTA 設計</a:t>
            </a:r>
            <a:br/>
            <a:r>
              <a:t>{insights.cta}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560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未來活動策略規劃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Content &amp; Campaign Planning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8595360" cy="0"/>
          </a:xfrm>
          <a:prstGeom prst="line">
            <a:avLst/>
          </a:prstGeom>
          <a:noFill/>
          <a:ln w="12700">
            <a:solidFill>
              <a:srgbClr val="EFEF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 w="6350">
            <a:solidFill>
              <a:srgbClr val="EFEF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台塑便利家 · 社群數據回顧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1463040" cy="2743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26187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時機 / 節日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737360" y="1261872"/>
            <a:ext cx="3017520" cy="2743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10512" y="126187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活動方向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1261872"/>
            <a:ext cx="1371600" cy="2743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032" y="126187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素材建議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26480" y="1261872"/>
            <a:ext cx="2468880" cy="2743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9632" y="126187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品牌環保連結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1536192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1536192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（節日 / 時機）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810512" y="1536192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（活動方向說明）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28032" y="153619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（圖卡／短影音）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99632" y="1536192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（與環保理念的連結）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2048256"/>
            <a:ext cx="8595360" cy="512064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2048256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（節日 / 時機）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810512" y="2048256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（活動方向說明）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28032" y="204825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（照片＋留言活動）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99632" y="204825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（與環保理念的連結）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74320" y="2560320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7472" y="2560320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（節日 / 時機）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810512" y="2560320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（活動方向說明）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828032" y="256032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（步驟圖卡）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199632" y="2560320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（與環保理念的連結）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74320" y="3072384"/>
            <a:ext cx="8595360" cy="512064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7472" y="3072384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（節日 / 時機）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810512" y="3072384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（活動方向說明）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28032" y="307238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（短影音）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99632" y="3072384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（與環保理念的連結）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74320" y="3584448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7472" y="358444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（節日 / 時機）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810512" y="3584448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（活動方向說明）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28032" y="358444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（數據圖卡）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199632" y="3584448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（與環保理念的連結）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114800" cy="4114800"/>
          </a:xfrm>
          <a:prstGeom prst="ellipse">
            <a:avLst/>
          </a:prstGeom>
          <a:solidFill>
            <a:srgbClr val="0066CC">
              <a:alpha val="25000"/>
            </a:srgbClr>
          </a:solidFill>
          <a:ln w="12700">
            <a:solidFill>
              <a:srgbClr val="0066C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0A0BB">
              <a:alpha val="22000"/>
            </a:srgbClr>
          </a:solidFill>
          <a:ln w="12700">
            <a:solidFill>
              <a:srgbClr val="00A0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256032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65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台塑便利家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感謝閱讀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84048" y="2487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數據驅動內容，永續驅動品牌。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4048" y="2999232"/>
            <a:ext cx="3200400" cy="0"/>
          </a:xfrm>
          <a:prstGeom prst="line">
            <a:avLst/>
          </a:prstGeom>
          <a:noFill/>
          <a:ln w="6350">
            <a:solidFill>
              <a:srgbClr val="AACF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台塑便利家 · ECOCO 循環經濟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2E5E"/>
          </a:solidFill>
          <a:ln w="12700">
            <a:solidFill>
              <a:srgbClr val="002E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如有任何問題，請聯絡社群團隊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社群數據回顧 - 公版簡報</dc:title>
  <dc:subject>PptxGenJS Presentation</dc:subject>
  <dc:creator>台塑便利家</dc:creator>
  <cp:lastModifiedBy>台塑便利家</cp:lastModifiedBy>
  <cp:revision>1</cp:revision>
  <dcterms:created xsi:type="dcterms:W3CDTF">2026-04-03T09:44:06Z</dcterms:created>
  <dcterms:modified xsi:type="dcterms:W3CDTF">2026-04-03T09:44:06Z</dcterms:modified>
</cp:coreProperties>
</file>